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13"/>
  </p:normalViewPr>
  <p:slideViewPr>
    <p:cSldViewPr snapToGrid="0">
      <p:cViewPr>
        <p:scale>
          <a:sx n="110" d="100"/>
          <a:sy n="110" d="100"/>
        </p:scale>
        <p:origin x="536"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186B0D-A9BC-DC47-801B-299780E1680E}" type="datetimeFigureOut">
              <a:rPr lang="en-US" smtClean="0"/>
              <a:t>6/6/25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89DE9-7B68-F049-9A45-6337B5C5D1EA}" type="slidenum">
              <a:rPr lang="en-US" smtClean="0"/>
              <a:t>‹#›</a:t>
            </a:fld>
            <a:endParaRPr lang="en-US"/>
          </a:p>
        </p:txBody>
      </p:sp>
    </p:spTree>
    <p:extLst>
      <p:ext uri="{BB962C8B-B14F-4D97-AF65-F5344CB8AC3E}">
        <p14:creationId xmlns:p14="http://schemas.microsoft.com/office/powerpoint/2010/main" val="1210974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Caption: A subsample of all collected specimens were screened for parasites. Shown here for a single study landscape (</a:t>
            </a:r>
            <a:r>
              <a:rPr lang="en-US" dirty="0" err="1"/>
              <a:t>Nicomekl</a:t>
            </a:r>
            <a:r>
              <a:rPr lang="en-US" dirty="0"/>
              <a:t> River). A) The ten sampling rounds (May – August) were pooled by combining consecutive sampling rounds to form “periods.” All samples in a period collected within a 2-3 week span. B) Within each landscape, closely adjacent points were grouped to form “subsites” (shown here for a single period, but note that subsite boundaries did not change between periods). All transects belonging to a subsite were at least 500 meters distance from transects in the nearest adjacent subsite. Specimens outside subsites were not carried forward, except for queens. C) The number of individuals of each bumble bee species in each subsite x period combination was calculated (shown here for a single period). D) Five individuals of each species were randomly selected for parasite screening. Subsite x period x species combinations with fewer than five representatives were not carried forward for parasite screening.</a:t>
            </a:r>
          </a:p>
        </p:txBody>
      </p:sp>
      <p:sp>
        <p:nvSpPr>
          <p:cNvPr id="4" name="Slide Number Placeholder 3"/>
          <p:cNvSpPr>
            <a:spLocks noGrp="1"/>
          </p:cNvSpPr>
          <p:nvPr>
            <p:ph type="sldNum" sz="quarter" idx="5"/>
          </p:nvPr>
        </p:nvSpPr>
        <p:spPr/>
        <p:txBody>
          <a:bodyPr/>
          <a:lstStyle/>
          <a:p>
            <a:fld id="{52089DE9-7B68-F049-9A45-6337B5C5D1EA}" type="slidenum">
              <a:rPr lang="en-US" smtClean="0"/>
              <a:t>1</a:t>
            </a:fld>
            <a:endParaRPr lang="en-US"/>
          </a:p>
        </p:txBody>
      </p:sp>
    </p:spTree>
    <p:extLst>
      <p:ext uri="{BB962C8B-B14F-4D97-AF65-F5344CB8AC3E}">
        <p14:creationId xmlns:p14="http://schemas.microsoft.com/office/powerpoint/2010/main" val="286340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F16AC-A120-9064-CD77-A331A840D0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EE684D-F004-17BB-A57C-8C46BFC055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C767-0556-8096-DC67-3CD33918EF18}"/>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5" name="Footer Placeholder 4">
            <a:extLst>
              <a:ext uri="{FF2B5EF4-FFF2-40B4-BE49-F238E27FC236}">
                <a16:creationId xmlns:a16="http://schemas.microsoft.com/office/drawing/2014/main" id="{4F99398B-53BE-3163-C3C1-7E0A684612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D21CF-0DA9-3417-06C9-BE695861D4DC}"/>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671125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4368-8667-223A-8692-0C1BEF4D9C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8EAA04-7D49-64DD-05F5-71A11FE822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E0A392-C982-3ACA-D6F2-DCACC379518E}"/>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5" name="Footer Placeholder 4">
            <a:extLst>
              <a:ext uri="{FF2B5EF4-FFF2-40B4-BE49-F238E27FC236}">
                <a16:creationId xmlns:a16="http://schemas.microsoft.com/office/drawing/2014/main" id="{AC722739-94BD-26FD-D8C5-506B6BF4B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1D4816-85F1-7C73-3DB0-94873A780DA2}"/>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2695324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C435-E43C-FA37-FDE3-55CAEE45CA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EDDC71-447D-F206-49C7-A57BE160F4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65CA8A-D536-7311-F587-3B730E1D800A}"/>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5" name="Footer Placeholder 4">
            <a:extLst>
              <a:ext uri="{FF2B5EF4-FFF2-40B4-BE49-F238E27FC236}">
                <a16:creationId xmlns:a16="http://schemas.microsoft.com/office/drawing/2014/main" id="{14544CCA-1270-9DD2-BE2F-7A95412B4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C61DBE-304B-0D0E-CF23-FD45B72F3326}"/>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3335913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36012-7C8A-6082-3C9F-8B1D52B2DB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6730FD-783F-9232-4F97-337BD8EDE6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A2F869-C3B7-2620-3D83-22B110899D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A82343-9854-0FE0-2E88-2515F16AFE79}"/>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6" name="Footer Placeholder 5">
            <a:extLst>
              <a:ext uri="{FF2B5EF4-FFF2-40B4-BE49-F238E27FC236}">
                <a16:creationId xmlns:a16="http://schemas.microsoft.com/office/drawing/2014/main" id="{26944738-82E6-583E-FD82-524933D95C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456CDF-C924-24DE-CBCE-F8E59E63E1F7}"/>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3542228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1CCDE-F467-9195-CB64-8EEFD89001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B5FB38-7F1F-B327-9753-B8C99EAAD7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63C514-9691-B5CA-B14C-224F609846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5FE299-B9D1-4BE2-25B7-1C096107C1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36B07B-487C-0473-BC33-68D27F7E54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8130FD-E117-DC3B-F184-59216B8AF4FF}"/>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8" name="Footer Placeholder 7">
            <a:extLst>
              <a:ext uri="{FF2B5EF4-FFF2-40B4-BE49-F238E27FC236}">
                <a16:creationId xmlns:a16="http://schemas.microsoft.com/office/drawing/2014/main" id="{9586B954-4BAD-DBED-E6A9-F63440F630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B17103-B275-49AF-1373-9B3563F579FA}"/>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3235959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43CDC-EE04-956B-E054-7648A369F6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917D64-9B80-A329-085F-40F7E27F911E}"/>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4" name="Footer Placeholder 3">
            <a:extLst>
              <a:ext uri="{FF2B5EF4-FFF2-40B4-BE49-F238E27FC236}">
                <a16:creationId xmlns:a16="http://schemas.microsoft.com/office/drawing/2014/main" id="{7B5860BD-2102-B5A8-DE80-4FE73D0146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7DC2B3-9C27-E9A7-E532-A9A4B2CD4740}"/>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983459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3B6DC1-F067-4765-81E9-56EAFCE503AF}"/>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3" name="Footer Placeholder 2">
            <a:extLst>
              <a:ext uri="{FF2B5EF4-FFF2-40B4-BE49-F238E27FC236}">
                <a16:creationId xmlns:a16="http://schemas.microsoft.com/office/drawing/2014/main" id="{A5AFFFCE-01ED-1D4F-60A1-15AFB54F5C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2814CF-7347-D657-FD99-12D50F9B45FE}"/>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379605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B784-6EBB-7DF4-CCBA-46E89E0C5E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5A2839-70FB-B50D-8608-A6F8835B62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97C7CA-3F43-FBD5-8776-142971FD15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D0C15C-6DF8-812D-317E-76FFAB408B2B}"/>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6" name="Footer Placeholder 5">
            <a:extLst>
              <a:ext uri="{FF2B5EF4-FFF2-40B4-BE49-F238E27FC236}">
                <a16:creationId xmlns:a16="http://schemas.microsoft.com/office/drawing/2014/main" id="{60B99FEC-D891-CD9B-C4AF-D944A252BE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0F492A-FD3D-C97F-FF3B-80CD5D541A31}"/>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3782362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5302B-B181-E98C-44AB-4A4C858086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AF641B-8D76-EC3B-F82F-87160ED198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EA2599-7059-8A50-FBC8-20E49F4960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C58BC-F85A-7A95-7ABB-30EA2A41322C}"/>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6" name="Footer Placeholder 5">
            <a:extLst>
              <a:ext uri="{FF2B5EF4-FFF2-40B4-BE49-F238E27FC236}">
                <a16:creationId xmlns:a16="http://schemas.microsoft.com/office/drawing/2014/main" id="{3A80B2CC-27A9-BB21-4E6E-90AB3AF3DC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89631D-78E8-CD28-9740-10AE387BF602}"/>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730240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6DDB8-A52D-FBF6-165D-6916CAAC24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C3E486-9B74-AA1C-0789-0C2521AA2F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FEF55C-1DA2-DE0D-4AE0-1F26A78E88FD}"/>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5" name="Footer Placeholder 4">
            <a:extLst>
              <a:ext uri="{FF2B5EF4-FFF2-40B4-BE49-F238E27FC236}">
                <a16:creationId xmlns:a16="http://schemas.microsoft.com/office/drawing/2014/main" id="{475B439E-E60F-0898-A03D-34DAB80244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27F0F2-EDAF-0154-4DAA-81993E027BC9}"/>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146432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BC7F61-7E3A-6273-66A2-E282219DC1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FA4A2-39BA-8393-52C2-51DA70ACE1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B2C8B-9330-2F6A-7ED8-70717948338C}"/>
              </a:ext>
            </a:extLst>
          </p:cNvPr>
          <p:cNvSpPr>
            <a:spLocks noGrp="1"/>
          </p:cNvSpPr>
          <p:nvPr>
            <p:ph type="dt" sz="half" idx="10"/>
          </p:nvPr>
        </p:nvSpPr>
        <p:spPr/>
        <p:txBody>
          <a:bodyPr/>
          <a:lstStyle/>
          <a:p>
            <a:fld id="{9358E629-0664-2E4D-BA36-417FEDDCF7FE}" type="datetimeFigureOut">
              <a:rPr lang="en-US" smtClean="0"/>
              <a:t>6/6/25</a:t>
            </a:fld>
            <a:endParaRPr lang="en-US"/>
          </a:p>
        </p:txBody>
      </p:sp>
      <p:sp>
        <p:nvSpPr>
          <p:cNvPr id="5" name="Footer Placeholder 4">
            <a:extLst>
              <a:ext uri="{FF2B5EF4-FFF2-40B4-BE49-F238E27FC236}">
                <a16:creationId xmlns:a16="http://schemas.microsoft.com/office/drawing/2014/main" id="{2E0A65C0-9F0D-7339-5491-CE2CB463E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2A815-A8F3-EB8B-9F4E-1B809F59CE30}"/>
              </a:ext>
            </a:extLst>
          </p:cNvPr>
          <p:cNvSpPr>
            <a:spLocks noGrp="1"/>
          </p:cNvSpPr>
          <p:nvPr>
            <p:ph type="sldNum" sz="quarter" idx="12"/>
          </p:nvPr>
        </p:nvSpPr>
        <p:spPr/>
        <p:txBody>
          <a:bodyPr/>
          <a:lstStyle/>
          <a:p>
            <a:fld id="{002E9512-624E-EA4A-B2C2-3247DBCA273E}" type="slidenum">
              <a:rPr lang="en-US" smtClean="0"/>
              <a:t>‹#›</a:t>
            </a:fld>
            <a:endParaRPr lang="en-US"/>
          </a:p>
        </p:txBody>
      </p:sp>
    </p:spTree>
    <p:extLst>
      <p:ext uri="{BB962C8B-B14F-4D97-AF65-F5344CB8AC3E}">
        <p14:creationId xmlns:p14="http://schemas.microsoft.com/office/powerpoint/2010/main" val="4151258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C431DF-C5EB-6CD0-6846-B200CC4F55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84D884-33FD-04D6-BD3F-C3BE1030F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11B48-6B9B-B99A-0AD4-8A2B1A63A4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58E629-0664-2E4D-BA36-417FEDDCF7FE}" type="datetimeFigureOut">
              <a:rPr lang="en-US" smtClean="0"/>
              <a:t>6/6/25</a:t>
            </a:fld>
            <a:endParaRPr lang="en-US"/>
          </a:p>
        </p:txBody>
      </p:sp>
      <p:sp>
        <p:nvSpPr>
          <p:cNvPr id="5" name="Footer Placeholder 4">
            <a:extLst>
              <a:ext uri="{FF2B5EF4-FFF2-40B4-BE49-F238E27FC236}">
                <a16:creationId xmlns:a16="http://schemas.microsoft.com/office/drawing/2014/main" id="{13CD3D58-A0DF-AF61-7E76-D31FACBAB1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3622F5-3575-00EC-BFA3-85C1E247B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2E9512-624E-EA4A-B2C2-3247DBCA273E}" type="slidenum">
              <a:rPr lang="en-US" smtClean="0"/>
              <a:t>‹#›</a:t>
            </a:fld>
            <a:endParaRPr lang="en-US"/>
          </a:p>
        </p:txBody>
      </p:sp>
    </p:spTree>
    <p:extLst>
      <p:ext uri="{BB962C8B-B14F-4D97-AF65-F5344CB8AC3E}">
        <p14:creationId xmlns:p14="http://schemas.microsoft.com/office/powerpoint/2010/main" val="3124659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0D4A6A-4EB0-FAEC-8774-D87B4C8A64A9}"/>
              </a:ext>
            </a:extLst>
          </p:cNvPr>
          <p:cNvPicPr>
            <a:picLocks noChangeAspect="1"/>
          </p:cNvPicPr>
          <p:nvPr/>
        </p:nvPicPr>
        <p:blipFill>
          <a:blip r:embed="rId3"/>
          <a:srcRect l="37620" t="60903" r="42566" b="12147"/>
          <a:stretch>
            <a:fillRect/>
          </a:stretch>
        </p:blipFill>
        <p:spPr>
          <a:xfrm>
            <a:off x="457196" y="339370"/>
            <a:ext cx="1540044" cy="1528011"/>
          </a:xfrm>
          <a:prstGeom prst="rect">
            <a:avLst/>
          </a:prstGeom>
        </p:spPr>
      </p:pic>
      <p:pic>
        <p:nvPicPr>
          <p:cNvPr id="7" name="Picture 6">
            <a:extLst>
              <a:ext uri="{FF2B5EF4-FFF2-40B4-BE49-F238E27FC236}">
                <a16:creationId xmlns:a16="http://schemas.microsoft.com/office/drawing/2014/main" id="{FA6B2315-461F-D6D9-7129-3CCB4B7CA4B2}"/>
              </a:ext>
            </a:extLst>
          </p:cNvPr>
          <p:cNvPicPr>
            <a:picLocks noChangeAspect="1"/>
          </p:cNvPicPr>
          <p:nvPr/>
        </p:nvPicPr>
        <p:blipFill>
          <a:blip r:embed="rId4"/>
          <a:srcRect l="36907" t="58227" r="43279" b="8311"/>
          <a:stretch>
            <a:fillRect/>
          </a:stretch>
        </p:blipFill>
        <p:spPr>
          <a:xfrm>
            <a:off x="2209364" y="382941"/>
            <a:ext cx="1540043" cy="1528010"/>
          </a:xfrm>
          <a:prstGeom prst="rect">
            <a:avLst/>
          </a:prstGeom>
        </p:spPr>
      </p:pic>
      <p:pic>
        <p:nvPicPr>
          <p:cNvPr id="9" name="Picture 8">
            <a:extLst>
              <a:ext uri="{FF2B5EF4-FFF2-40B4-BE49-F238E27FC236}">
                <a16:creationId xmlns:a16="http://schemas.microsoft.com/office/drawing/2014/main" id="{C4D17817-B49A-D48E-A431-CDB474E438F1}"/>
              </a:ext>
            </a:extLst>
          </p:cNvPr>
          <p:cNvPicPr>
            <a:picLocks noChangeAspect="1"/>
          </p:cNvPicPr>
          <p:nvPr/>
        </p:nvPicPr>
        <p:blipFill>
          <a:blip r:embed="rId5"/>
          <a:srcRect l="38910" t="57502" r="45201" b="9141"/>
          <a:stretch>
            <a:fillRect/>
          </a:stretch>
        </p:blipFill>
        <p:spPr>
          <a:xfrm>
            <a:off x="3872850" y="339370"/>
            <a:ext cx="1540043" cy="1530400"/>
          </a:xfrm>
          <a:prstGeom prst="rect">
            <a:avLst/>
          </a:prstGeom>
        </p:spPr>
      </p:pic>
      <p:pic>
        <p:nvPicPr>
          <p:cNvPr id="11" name="Picture 10">
            <a:extLst>
              <a:ext uri="{FF2B5EF4-FFF2-40B4-BE49-F238E27FC236}">
                <a16:creationId xmlns:a16="http://schemas.microsoft.com/office/drawing/2014/main" id="{46106AD1-F88B-5F1A-3DE4-40B6F18C3D84}"/>
              </a:ext>
            </a:extLst>
          </p:cNvPr>
          <p:cNvPicPr>
            <a:picLocks noChangeAspect="1"/>
          </p:cNvPicPr>
          <p:nvPr/>
        </p:nvPicPr>
        <p:blipFill>
          <a:blip r:embed="rId6"/>
          <a:srcRect l="38782" t="58002" r="44345" b="9294"/>
          <a:stretch>
            <a:fillRect/>
          </a:stretch>
        </p:blipFill>
        <p:spPr>
          <a:xfrm>
            <a:off x="5625018" y="339370"/>
            <a:ext cx="1665534" cy="1528011"/>
          </a:xfrm>
          <a:prstGeom prst="rect">
            <a:avLst/>
          </a:prstGeom>
        </p:spPr>
      </p:pic>
      <p:sp>
        <p:nvSpPr>
          <p:cNvPr id="12" name="TextBox 11">
            <a:extLst>
              <a:ext uri="{FF2B5EF4-FFF2-40B4-BE49-F238E27FC236}">
                <a16:creationId xmlns:a16="http://schemas.microsoft.com/office/drawing/2014/main" id="{85F43049-7A60-2AAB-6CE5-4854605B4244}"/>
              </a:ext>
            </a:extLst>
          </p:cNvPr>
          <p:cNvSpPr txBox="1"/>
          <p:nvPr/>
        </p:nvSpPr>
        <p:spPr>
          <a:xfrm>
            <a:off x="926430" y="-9547"/>
            <a:ext cx="599844" cy="369332"/>
          </a:xfrm>
          <a:prstGeom prst="rect">
            <a:avLst/>
          </a:prstGeom>
          <a:noFill/>
        </p:spPr>
        <p:txBody>
          <a:bodyPr wrap="none" rtlCol="0">
            <a:spAutoFit/>
          </a:bodyPr>
          <a:lstStyle/>
          <a:p>
            <a:r>
              <a:rPr lang="en-US" dirty="0"/>
              <a:t>t = 1</a:t>
            </a:r>
          </a:p>
        </p:txBody>
      </p:sp>
      <p:sp>
        <p:nvSpPr>
          <p:cNvPr id="13" name="TextBox 12">
            <a:extLst>
              <a:ext uri="{FF2B5EF4-FFF2-40B4-BE49-F238E27FC236}">
                <a16:creationId xmlns:a16="http://schemas.microsoft.com/office/drawing/2014/main" id="{5C0B544B-B213-1AED-ABD2-4950D9197661}"/>
              </a:ext>
            </a:extLst>
          </p:cNvPr>
          <p:cNvSpPr txBox="1"/>
          <p:nvPr/>
        </p:nvSpPr>
        <p:spPr>
          <a:xfrm>
            <a:off x="2679463" y="-9547"/>
            <a:ext cx="599844" cy="369332"/>
          </a:xfrm>
          <a:prstGeom prst="rect">
            <a:avLst/>
          </a:prstGeom>
          <a:noFill/>
        </p:spPr>
        <p:txBody>
          <a:bodyPr wrap="none" rtlCol="0">
            <a:spAutoFit/>
          </a:bodyPr>
          <a:lstStyle/>
          <a:p>
            <a:r>
              <a:rPr lang="en-US" dirty="0"/>
              <a:t>t = 2</a:t>
            </a:r>
          </a:p>
        </p:txBody>
      </p:sp>
      <p:sp>
        <p:nvSpPr>
          <p:cNvPr id="14" name="TextBox 13">
            <a:extLst>
              <a:ext uri="{FF2B5EF4-FFF2-40B4-BE49-F238E27FC236}">
                <a16:creationId xmlns:a16="http://schemas.microsoft.com/office/drawing/2014/main" id="{5EAADE8C-EF24-7BBF-9DE8-69AB3FF69B45}"/>
              </a:ext>
            </a:extLst>
          </p:cNvPr>
          <p:cNvSpPr txBox="1"/>
          <p:nvPr/>
        </p:nvSpPr>
        <p:spPr>
          <a:xfrm>
            <a:off x="4432496" y="-9547"/>
            <a:ext cx="599844" cy="369332"/>
          </a:xfrm>
          <a:prstGeom prst="rect">
            <a:avLst/>
          </a:prstGeom>
          <a:noFill/>
        </p:spPr>
        <p:txBody>
          <a:bodyPr wrap="none" rtlCol="0">
            <a:spAutoFit/>
          </a:bodyPr>
          <a:lstStyle/>
          <a:p>
            <a:r>
              <a:rPr lang="en-US" dirty="0"/>
              <a:t>t = 3</a:t>
            </a:r>
          </a:p>
        </p:txBody>
      </p:sp>
      <p:sp>
        <p:nvSpPr>
          <p:cNvPr id="15" name="TextBox 14">
            <a:extLst>
              <a:ext uri="{FF2B5EF4-FFF2-40B4-BE49-F238E27FC236}">
                <a16:creationId xmlns:a16="http://schemas.microsoft.com/office/drawing/2014/main" id="{6E41D2AB-0A05-AC97-707F-3F4E849A6A5B}"/>
              </a:ext>
            </a:extLst>
          </p:cNvPr>
          <p:cNvSpPr txBox="1"/>
          <p:nvPr/>
        </p:nvSpPr>
        <p:spPr>
          <a:xfrm>
            <a:off x="6153465" y="-29962"/>
            <a:ext cx="599844" cy="369332"/>
          </a:xfrm>
          <a:prstGeom prst="rect">
            <a:avLst/>
          </a:prstGeom>
          <a:noFill/>
        </p:spPr>
        <p:txBody>
          <a:bodyPr wrap="none" rtlCol="0">
            <a:spAutoFit/>
          </a:bodyPr>
          <a:lstStyle/>
          <a:p>
            <a:r>
              <a:rPr lang="en-US" dirty="0"/>
              <a:t>t = 4</a:t>
            </a:r>
          </a:p>
        </p:txBody>
      </p:sp>
      <p:sp>
        <p:nvSpPr>
          <p:cNvPr id="16" name="TextBox 15">
            <a:extLst>
              <a:ext uri="{FF2B5EF4-FFF2-40B4-BE49-F238E27FC236}">
                <a16:creationId xmlns:a16="http://schemas.microsoft.com/office/drawing/2014/main" id="{EE25E4BC-40C5-689B-BE75-CC8FC4BCA023}"/>
              </a:ext>
            </a:extLst>
          </p:cNvPr>
          <p:cNvSpPr txBox="1"/>
          <p:nvPr/>
        </p:nvSpPr>
        <p:spPr>
          <a:xfrm>
            <a:off x="7502677" y="918709"/>
            <a:ext cx="474810" cy="369332"/>
          </a:xfrm>
          <a:prstGeom prst="rect">
            <a:avLst/>
          </a:prstGeom>
          <a:noFill/>
        </p:spPr>
        <p:txBody>
          <a:bodyPr wrap="none" rtlCol="0">
            <a:spAutoFit/>
          </a:bodyPr>
          <a:lstStyle/>
          <a:p>
            <a:r>
              <a:rPr lang="en-US" dirty="0"/>
              <a:t>. . .</a:t>
            </a:r>
          </a:p>
        </p:txBody>
      </p:sp>
      <p:sp>
        <p:nvSpPr>
          <p:cNvPr id="17" name="TextBox 16">
            <a:extLst>
              <a:ext uri="{FF2B5EF4-FFF2-40B4-BE49-F238E27FC236}">
                <a16:creationId xmlns:a16="http://schemas.microsoft.com/office/drawing/2014/main" id="{CF99AAA7-901D-5CA6-9FC9-EC25835059CB}"/>
              </a:ext>
            </a:extLst>
          </p:cNvPr>
          <p:cNvSpPr txBox="1"/>
          <p:nvPr/>
        </p:nvSpPr>
        <p:spPr>
          <a:xfrm>
            <a:off x="10591728" y="-29962"/>
            <a:ext cx="723275" cy="369332"/>
          </a:xfrm>
          <a:prstGeom prst="rect">
            <a:avLst/>
          </a:prstGeom>
          <a:noFill/>
        </p:spPr>
        <p:txBody>
          <a:bodyPr wrap="none" rtlCol="0">
            <a:spAutoFit/>
          </a:bodyPr>
          <a:lstStyle/>
          <a:p>
            <a:r>
              <a:rPr lang="en-US" dirty="0"/>
              <a:t>t = 10</a:t>
            </a:r>
          </a:p>
        </p:txBody>
      </p:sp>
      <p:pic>
        <p:nvPicPr>
          <p:cNvPr id="19" name="Picture 18" descr="A group of maps with different locations&#10;&#10;AI-generated content may be incorrect.">
            <a:extLst>
              <a:ext uri="{FF2B5EF4-FFF2-40B4-BE49-F238E27FC236}">
                <a16:creationId xmlns:a16="http://schemas.microsoft.com/office/drawing/2014/main" id="{DAC40F6B-4C13-8A3B-B35A-986B2A489D95}"/>
              </a:ext>
            </a:extLst>
          </p:cNvPr>
          <p:cNvPicPr>
            <a:picLocks noChangeAspect="1"/>
          </p:cNvPicPr>
          <p:nvPr/>
        </p:nvPicPr>
        <p:blipFill>
          <a:blip r:embed="rId7"/>
          <a:srcRect l="38390" t="56877" r="44892" b="9205"/>
          <a:stretch>
            <a:fillRect/>
          </a:stretch>
        </p:blipFill>
        <p:spPr>
          <a:xfrm>
            <a:off x="10059777" y="320438"/>
            <a:ext cx="1580506" cy="1565873"/>
          </a:xfrm>
          <a:prstGeom prst="rect">
            <a:avLst/>
          </a:prstGeom>
        </p:spPr>
      </p:pic>
      <p:sp>
        <p:nvSpPr>
          <p:cNvPr id="20" name="Right Brace 19">
            <a:extLst>
              <a:ext uri="{FF2B5EF4-FFF2-40B4-BE49-F238E27FC236}">
                <a16:creationId xmlns:a16="http://schemas.microsoft.com/office/drawing/2014/main" id="{D5AEA5DC-488C-6255-F55E-DF8D853812CB}"/>
              </a:ext>
            </a:extLst>
          </p:cNvPr>
          <p:cNvSpPr/>
          <p:nvPr/>
        </p:nvSpPr>
        <p:spPr>
          <a:xfrm rot="5400000">
            <a:off x="1961147" y="791107"/>
            <a:ext cx="300790" cy="258679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161B536B-502A-2A34-0955-E38629EC1DF9}"/>
              </a:ext>
            </a:extLst>
          </p:cNvPr>
          <p:cNvSpPr/>
          <p:nvPr/>
        </p:nvSpPr>
        <p:spPr>
          <a:xfrm rot="5400000">
            <a:off x="5389293" y="791107"/>
            <a:ext cx="300790" cy="258679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B0D5E26B-61D2-D846-72FB-1C8282D5DAE7}"/>
              </a:ext>
            </a:extLst>
          </p:cNvPr>
          <p:cNvSpPr txBox="1"/>
          <p:nvPr/>
        </p:nvSpPr>
        <p:spPr>
          <a:xfrm>
            <a:off x="1643179" y="2253495"/>
            <a:ext cx="994183" cy="369332"/>
          </a:xfrm>
          <a:prstGeom prst="rect">
            <a:avLst/>
          </a:prstGeom>
          <a:noFill/>
        </p:spPr>
        <p:txBody>
          <a:bodyPr wrap="none" rtlCol="0">
            <a:spAutoFit/>
          </a:bodyPr>
          <a:lstStyle/>
          <a:p>
            <a:r>
              <a:rPr lang="en-US" dirty="0"/>
              <a:t>period 1</a:t>
            </a:r>
          </a:p>
        </p:txBody>
      </p:sp>
      <p:sp>
        <p:nvSpPr>
          <p:cNvPr id="23" name="TextBox 22">
            <a:extLst>
              <a:ext uri="{FF2B5EF4-FFF2-40B4-BE49-F238E27FC236}">
                <a16:creationId xmlns:a16="http://schemas.microsoft.com/office/drawing/2014/main" id="{90CC4F69-D710-06F7-8D79-04BA24DC74C7}"/>
              </a:ext>
            </a:extLst>
          </p:cNvPr>
          <p:cNvSpPr txBox="1"/>
          <p:nvPr/>
        </p:nvSpPr>
        <p:spPr>
          <a:xfrm>
            <a:off x="5058849" y="2253495"/>
            <a:ext cx="994183" cy="369332"/>
          </a:xfrm>
          <a:prstGeom prst="rect">
            <a:avLst/>
          </a:prstGeom>
          <a:noFill/>
        </p:spPr>
        <p:txBody>
          <a:bodyPr wrap="none" rtlCol="0">
            <a:spAutoFit/>
          </a:bodyPr>
          <a:lstStyle/>
          <a:p>
            <a:r>
              <a:rPr lang="en-US" dirty="0"/>
              <a:t>period 2</a:t>
            </a:r>
          </a:p>
        </p:txBody>
      </p:sp>
      <p:sp>
        <p:nvSpPr>
          <p:cNvPr id="24" name="TextBox 23">
            <a:extLst>
              <a:ext uri="{FF2B5EF4-FFF2-40B4-BE49-F238E27FC236}">
                <a16:creationId xmlns:a16="http://schemas.microsoft.com/office/drawing/2014/main" id="{40DB40CC-137E-3EAD-ABB1-98F3215BF3A6}"/>
              </a:ext>
            </a:extLst>
          </p:cNvPr>
          <p:cNvSpPr txBox="1"/>
          <p:nvPr/>
        </p:nvSpPr>
        <p:spPr>
          <a:xfrm>
            <a:off x="9554638" y="2253495"/>
            <a:ext cx="994183" cy="369332"/>
          </a:xfrm>
          <a:prstGeom prst="rect">
            <a:avLst/>
          </a:prstGeom>
          <a:noFill/>
        </p:spPr>
        <p:txBody>
          <a:bodyPr wrap="none" rtlCol="0">
            <a:spAutoFit/>
          </a:bodyPr>
          <a:lstStyle/>
          <a:p>
            <a:r>
              <a:rPr lang="en-US" dirty="0"/>
              <a:t>period 5</a:t>
            </a:r>
          </a:p>
        </p:txBody>
      </p:sp>
      <p:sp>
        <p:nvSpPr>
          <p:cNvPr id="25" name="Right Brace 24">
            <a:extLst>
              <a:ext uri="{FF2B5EF4-FFF2-40B4-BE49-F238E27FC236}">
                <a16:creationId xmlns:a16="http://schemas.microsoft.com/office/drawing/2014/main" id="{BD9B535E-1555-6559-1458-596DF20538E8}"/>
              </a:ext>
            </a:extLst>
          </p:cNvPr>
          <p:cNvSpPr/>
          <p:nvPr/>
        </p:nvSpPr>
        <p:spPr>
          <a:xfrm rot="5400000">
            <a:off x="9778114" y="810809"/>
            <a:ext cx="300790" cy="258679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DF1A505-29FA-0B41-05B4-A35DCF46D731}"/>
              </a:ext>
            </a:extLst>
          </p:cNvPr>
          <p:cNvCxnSpPr>
            <a:cxnSpLocks/>
          </p:cNvCxnSpPr>
          <p:nvPr/>
        </p:nvCxnSpPr>
        <p:spPr>
          <a:xfrm>
            <a:off x="2116207" y="2764720"/>
            <a:ext cx="0" cy="5319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1" name="Picture 30" descr="A group of maps with red dots&#10;&#10;AI-generated content may be incorrect.">
            <a:extLst>
              <a:ext uri="{FF2B5EF4-FFF2-40B4-BE49-F238E27FC236}">
                <a16:creationId xmlns:a16="http://schemas.microsoft.com/office/drawing/2014/main" id="{F243163E-F70F-1CCA-CE30-C2A2EF5F27E0}"/>
              </a:ext>
            </a:extLst>
          </p:cNvPr>
          <p:cNvPicPr>
            <a:picLocks noChangeAspect="1"/>
          </p:cNvPicPr>
          <p:nvPr/>
        </p:nvPicPr>
        <p:blipFill>
          <a:blip r:embed="rId8"/>
          <a:srcRect l="38854" t="56559" r="44118" b="8889"/>
          <a:stretch>
            <a:fillRect/>
          </a:stretch>
        </p:blipFill>
        <p:spPr>
          <a:xfrm>
            <a:off x="8240249" y="274936"/>
            <a:ext cx="1626158" cy="1611375"/>
          </a:xfrm>
          <a:prstGeom prst="rect">
            <a:avLst/>
          </a:prstGeom>
        </p:spPr>
      </p:pic>
      <p:sp>
        <p:nvSpPr>
          <p:cNvPr id="32" name="TextBox 31">
            <a:extLst>
              <a:ext uri="{FF2B5EF4-FFF2-40B4-BE49-F238E27FC236}">
                <a16:creationId xmlns:a16="http://schemas.microsoft.com/office/drawing/2014/main" id="{F45767BC-F789-623D-58EF-0BD411C2E052}"/>
              </a:ext>
            </a:extLst>
          </p:cNvPr>
          <p:cNvSpPr txBox="1"/>
          <p:nvPr/>
        </p:nvSpPr>
        <p:spPr>
          <a:xfrm>
            <a:off x="8741425" y="-29962"/>
            <a:ext cx="599844" cy="369332"/>
          </a:xfrm>
          <a:prstGeom prst="rect">
            <a:avLst/>
          </a:prstGeom>
          <a:noFill/>
        </p:spPr>
        <p:txBody>
          <a:bodyPr wrap="none" rtlCol="0">
            <a:spAutoFit/>
          </a:bodyPr>
          <a:lstStyle/>
          <a:p>
            <a:r>
              <a:rPr lang="en-US" dirty="0"/>
              <a:t>t = 9</a:t>
            </a:r>
          </a:p>
        </p:txBody>
      </p:sp>
      <p:pic>
        <p:nvPicPr>
          <p:cNvPr id="34" name="Picture 33" descr="A group of maps with different locations&#10;&#10;AI-generated content may be incorrect.">
            <a:extLst>
              <a:ext uri="{FF2B5EF4-FFF2-40B4-BE49-F238E27FC236}">
                <a16:creationId xmlns:a16="http://schemas.microsoft.com/office/drawing/2014/main" id="{7F9E0A7A-AC3D-F9D5-3D28-19A381419503}"/>
              </a:ext>
            </a:extLst>
          </p:cNvPr>
          <p:cNvPicPr>
            <a:picLocks noChangeAspect="1"/>
          </p:cNvPicPr>
          <p:nvPr/>
        </p:nvPicPr>
        <p:blipFill>
          <a:blip r:embed="rId9"/>
          <a:srcRect l="37926" t="56242" r="43572" b="9206"/>
          <a:stretch>
            <a:fillRect/>
          </a:stretch>
        </p:blipFill>
        <p:spPr>
          <a:xfrm>
            <a:off x="824832" y="3312886"/>
            <a:ext cx="2586789" cy="2359080"/>
          </a:xfrm>
          <a:prstGeom prst="rect">
            <a:avLst/>
          </a:prstGeom>
        </p:spPr>
      </p:pic>
      <p:sp>
        <p:nvSpPr>
          <p:cNvPr id="37" name="Freeform 36">
            <a:extLst>
              <a:ext uri="{FF2B5EF4-FFF2-40B4-BE49-F238E27FC236}">
                <a16:creationId xmlns:a16="http://schemas.microsoft.com/office/drawing/2014/main" id="{A5C8770E-9948-852B-2FA7-370F90D464BE}"/>
              </a:ext>
            </a:extLst>
          </p:cNvPr>
          <p:cNvSpPr/>
          <p:nvPr/>
        </p:nvSpPr>
        <p:spPr>
          <a:xfrm>
            <a:off x="1299411" y="3729789"/>
            <a:ext cx="589547" cy="926432"/>
          </a:xfrm>
          <a:custGeom>
            <a:avLst/>
            <a:gdLst>
              <a:gd name="connsiteX0" fmla="*/ 0 w 589547"/>
              <a:gd name="connsiteY0" fmla="*/ 12032 h 926432"/>
              <a:gd name="connsiteX1" fmla="*/ 144378 w 589547"/>
              <a:gd name="connsiteY1" fmla="*/ 926432 h 926432"/>
              <a:gd name="connsiteX2" fmla="*/ 288757 w 589547"/>
              <a:gd name="connsiteY2" fmla="*/ 902369 h 926432"/>
              <a:gd name="connsiteX3" fmla="*/ 445168 w 589547"/>
              <a:gd name="connsiteY3" fmla="*/ 553453 h 926432"/>
              <a:gd name="connsiteX4" fmla="*/ 589547 w 589547"/>
              <a:gd name="connsiteY4" fmla="*/ 385011 h 926432"/>
              <a:gd name="connsiteX5" fmla="*/ 312821 w 589547"/>
              <a:gd name="connsiteY5" fmla="*/ 0 h 926432"/>
              <a:gd name="connsiteX6" fmla="*/ 0 w 589547"/>
              <a:gd name="connsiteY6" fmla="*/ 12032 h 92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547" h="926432">
                <a:moveTo>
                  <a:pt x="0" y="12032"/>
                </a:moveTo>
                <a:lnTo>
                  <a:pt x="144378" y="926432"/>
                </a:lnTo>
                <a:lnTo>
                  <a:pt x="288757" y="902369"/>
                </a:lnTo>
                <a:lnTo>
                  <a:pt x="445168" y="553453"/>
                </a:lnTo>
                <a:lnTo>
                  <a:pt x="589547" y="385011"/>
                </a:lnTo>
                <a:lnTo>
                  <a:pt x="312821" y="0"/>
                </a:lnTo>
                <a:lnTo>
                  <a:pt x="0" y="12032"/>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85F7F94-8F13-5AA4-508E-51B809EC69A2}"/>
              </a:ext>
            </a:extLst>
          </p:cNvPr>
          <p:cNvSpPr/>
          <p:nvPr/>
        </p:nvSpPr>
        <p:spPr>
          <a:xfrm>
            <a:off x="2209364" y="3729789"/>
            <a:ext cx="649950" cy="7626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8B89FFA-C40F-F750-044D-AC72BD5427EE}"/>
              </a:ext>
            </a:extLst>
          </p:cNvPr>
          <p:cNvSpPr/>
          <p:nvPr/>
        </p:nvSpPr>
        <p:spPr>
          <a:xfrm>
            <a:off x="1299411" y="4855106"/>
            <a:ext cx="589547" cy="5732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074C494-B61E-5CC0-3215-AAE4CDDA0DB1}"/>
              </a:ext>
            </a:extLst>
          </p:cNvPr>
          <p:cNvSpPr/>
          <p:nvPr/>
        </p:nvSpPr>
        <p:spPr>
          <a:xfrm>
            <a:off x="2209364" y="4656221"/>
            <a:ext cx="770021" cy="7721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BF2B453-1E0D-9F14-5053-E7ADC29B42D1}"/>
              </a:ext>
            </a:extLst>
          </p:cNvPr>
          <p:cNvSpPr txBox="1"/>
          <p:nvPr/>
        </p:nvSpPr>
        <p:spPr>
          <a:xfrm>
            <a:off x="-43540" y="-112864"/>
            <a:ext cx="607859" cy="523220"/>
          </a:xfrm>
          <a:prstGeom prst="rect">
            <a:avLst/>
          </a:prstGeom>
          <a:noFill/>
        </p:spPr>
        <p:txBody>
          <a:bodyPr wrap="none" rtlCol="0">
            <a:spAutoFit/>
          </a:bodyPr>
          <a:lstStyle/>
          <a:p>
            <a:r>
              <a:rPr lang="en-US" sz="2800" dirty="0"/>
              <a:t>(A)</a:t>
            </a:r>
          </a:p>
        </p:txBody>
      </p:sp>
      <p:sp>
        <p:nvSpPr>
          <p:cNvPr id="47" name="TextBox 46">
            <a:extLst>
              <a:ext uri="{FF2B5EF4-FFF2-40B4-BE49-F238E27FC236}">
                <a16:creationId xmlns:a16="http://schemas.microsoft.com/office/drawing/2014/main" id="{1C206E17-3E57-2178-6AA0-7DDA18A9833E}"/>
              </a:ext>
            </a:extLst>
          </p:cNvPr>
          <p:cNvSpPr txBox="1"/>
          <p:nvPr/>
        </p:nvSpPr>
        <p:spPr>
          <a:xfrm>
            <a:off x="139245" y="3206569"/>
            <a:ext cx="612668" cy="523220"/>
          </a:xfrm>
          <a:prstGeom prst="rect">
            <a:avLst/>
          </a:prstGeom>
          <a:noFill/>
        </p:spPr>
        <p:txBody>
          <a:bodyPr wrap="none" rtlCol="0">
            <a:spAutoFit/>
          </a:bodyPr>
          <a:lstStyle/>
          <a:p>
            <a:r>
              <a:rPr lang="en-US" sz="2800" dirty="0"/>
              <a:t>(B)</a:t>
            </a:r>
          </a:p>
        </p:txBody>
      </p:sp>
      <p:cxnSp>
        <p:nvCxnSpPr>
          <p:cNvPr id="49" name="Straight Arrow Connector 48">
            <a:extLst>
              <a:ext uri="{FF2B5EF4-FFF2-40B4-BE49-F238E27FC236}">
                <a16:creationId xmlns:a16="http://schemas.microsoft.com/office/drawing/2014/main" id="{6DB00A39-3A61-F247-7CAA-834D04F0F67B}"/>
              </a:ext>
            </a:extLst>
          </p:cNvPr>
          <p:cNvCxnSpPr>
            <a:cxnSpLocks/>
            <a:stCxn id="34" idx="3"/>
          </p:cNvCxnSpPr>
          <p:nvPr/>
        </p:nvCxnSpPr>
        <p:spPr>
          <a:xfrm>
            <a:off x="3411621" y="4492426"/>
            <a:ext cx="69273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3AE41363-F56F-7E2C-09EC-3C40EC4C22D2}"/>
              </a:ext>
            </a:extLst>
          </p:cNvPr>
          <p:cNvCxnSpPr>
            <a:cxnSpLocks/>
          </p:cNvCxnSpPr>
          <p:nvPr/>
        </p:nvCxnSpPr>
        <p:spPr>
          <a:xfrm>
            <a:off x="2068000" y="5297714"/>
            <a:ext cx="0" cy="805669"/>
          </a:xfrm>
          <a:prstGeom prst="straightConnector1">
            <a:avLst/>
          </a:prstGeom>
          <a:ln>
            <a:prstDash val="sysDot"/>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7A06A8C0-0C81-6EE3-6FA5-7EB203087627}"/>
              </a:ext>
            </a:extLst>
          </p:cNvPr>
          <p:cNvSpPr txBox="1"/>
          <p:nvPr/>
        </p:nvSpPr>
        <p:spPr>
          <a:xfrm>
            <a:off x="897053" y="6037944"/>
            <a:ext cx="2412200" cy="646331"/>
          </a:xfrm>
          <a:prstGeom prst="rect">
            <a:avLst/>
          </a:prstGeom>
          <a:noFill/>
        </p:spPr>
        <p:txBody>
          <a:bodyPr wrap="square" rtlCol="0">
            <a:spAutoFit/>
          </a:bodyPr>
          <a:lstStyle/>
          <a:p>
            <a:pPr algn="ctr"/>
            <a:r>
              <a:rPr lang="en-US" dirty="0"/>
              <a:t>specimens outside subsite not screened</a:t>
            </a:r>
          </a:p>
        </p:txBody>
      </p:sp>
      <p:grpSp>
        <p:nvGrpSpPr>
          <p:cNvPr id="58" name="Group 57">
            <a:extLst>
              <a:ext uri="{FF2B5EF4-FFF2-40B4-BE49-F238E27FC236}">
                <a16:creationId xmlns:a16="http://schemas.microsoft.com/office/drawing/2014/main" id="{7843AFD7-FC54-E680-4736-440C0B87E871}"/>
              </a:ext>
            </a:extLst>
          </p:cNvPr>
          <p:cNvGrpSpPr/>
          <p:nvPr/>
        </p:nvGrpSpPr>
        <p:grpSpPr>
          <a:xfrm>
            <a:off x="4765064" y="3280163"/>
            <a:ext cx="2880422" cy="2843865"/>
            <a:chOff x="4688496" y="3882189"/>
            <a:chExt cx="1679974" cy="1698554"/>
          </a:xfrm>
        </p:grpSpPr>
        <p:sp>
          <p:nvSpPr>
            <p:cNvPr id="54" name="Freeform 53">
              <a:extLst>
                <a:ext uri="{FF2B5EF4-FFF2-40B4-BE49-F238E27FC236}">
                  <a16:creationId xmlns:a16="http://schemas.microsoft.com/office/drawing/2014/main" id="{AB32BF18-F7EF-981C-6C27-AB7B7D8A3548}"/>
                </a:ext>
              </a:extLst>
            </p:cNvPr>
            <p:cNvSpPr/>
            <p:nvPr/>
          </p:nvSpPr>
          <p:spPr>
            <a:xfrm>
              <a:off x="4688496" y="3882189"/>
              <a:ext cx="589547" cy="926432"/>
            </a:xfrm>
            <a:custGeom>
              <a:avLst/>
              <a:gdLst>
                <a:gd name="connsiteX0" fmla="*/ 0 w 589547"/>
                <a:gd name="connsiteY0" fmla="*/ 12032 h 926432"/>
                <a:gd name="connsiteX1" fmla="*/ 144378 w 589547"/>
                <a:gd name="connsiteY1" fmla="*/ 926432 h 926432"/>
                <a:gd name="connsiteX2" fmla="*/ 288757 w 589547"/>
                <a:gd name="connsiteY2" fmla="*/ 902369 h 926432"/>
                <a:gd name="connsiteX3" fmla="*/ 445168 w 589547"/>
                <a:gd name="connsiteY3" fmla="*/ 553453 h 926432"/>
                <a:gd name="connsiteX4" fmla="*/ 589547 w 589547"/>
                <a:gd name="connsiteY4" fmla="*/ 385011 h 926432"/>
                <a:gd name="connsiteX5" fmla="*/ 312821 w 589547"/>
                <a:gd name="connsiteY5" fmla="*/ 0 h 926432"/>
                <a:gd name="connsiteX6" fmla="*/ 0 w 589547"/>
                <a:gd name="connsiteY6" fmla="*/ 12032 h 92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547" h="926432">
                  <a:moveTo>
                    <a:pt x="0" y="12032"/>
                  </a:moveTo>
                  <a:lnTo>
                    <a:pt x="144378" y="926432"/>
                  </a:lnTo>
                  <a:lnTo>
                    <a:pt x="288757" y="902369"/>
                  </a:lnTo>
                  <a:lnTo>
                    <a:pt x="445168" y="553453"/>
                  </a:lnTo>
                  <a:lnTo>
                    <a:pt x="589547" y="385011"/>
                  </a:lnTo>
                  <a:lnTo>
                    <a:pt x="312821" y="0"/>
                  </a:lnTo>
                  <a:lnTo>
                    <a:pt x="0" y="12032"/>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5" name="Rectangle 54">
              <a:extLst>
                <a:ext uri="{FF2B5EF4-FFF2-40B4-BE49-F238E27FC236}">
                  <a16:creationId xmlns:a16="http://schemas.microsoft.com/office/drawing/2014/main" id="{8B1984D5-F0F4-C39B-D1DD-EBAD44FB7A46}"/>
                </a:ext>
              </a:extLst>
            </p:cNvPr>
            <p:cNvSpPr/>
            <p:nvPr/>
          </p:nvSpPr>
          <p:spPr>
            <a:xfrm>
              <a:off x="5598449" y="3882189"/>
              <a:ext cx="649950" cy="7626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6" name="Rectangle 55">
              <a:extLst>
                <a:ext uri="{FF2B5EF4-FFF2-40B4-BE49-F238E27FC236}">
                  <a16:creationId xmlns:a16="http://schemas.microsoft.com/office/drawing/2014/main" id="{2EDF3E47-BD54-724A-618C-014D49FFB0E2}"/>
                </a:ext>
              </a:extLst>
            </p:cNvPr>
            <p:cNvSpPr/>
            <p:nvPr/>
          </p:nvSpPr>
          <p:spPr>
            <a:xfrm>
              <a:off x="4688496" y="5007506"/>
              <a:ext cx="589547" cy="5732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7" name="Rectangle 56">
              <a:extLst>
                <a:ext uri="{FF2B5EF4-FFF2-40B4-BE49-F238E27FC236}">
                  <a16:creationId xmlns:a16="http://schemas.microsoft.com/office/drawing/2014/main" id="{A5729349-9D90-B474-3C14-1204A55DF5AF}"/>
                </a:ext>
              </a:extLst>
            </p:cNvPr>
            <p:cNvSpPr/>
            <p:nvPr/>
          </p:nvSpPr>
          <p:spPr>
            <a:xfrm>
              <a:off x="5598449" y="4808621"/>
              <a:ext cx="770021" cy="7721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59" name="TextBox 58">
            <a:extLst>
              <a:ext uri="{FF2B5EF4-FFF2-40B4-BE49-F238E27FC236}">
                <a16:creationId xmlns:a16="http://schemas.microsoft.com/office/drawing/2014/main" id="{AE8BD4D9-229C-772D-2DF3-4E6485166ECE}"/>
              </a:ext>
            </a:extLst>
          </p:cNvPr>
          <p:cNvSpPr txBox="1"/>
          <p:nvPr/>
        </p:nvSpPr>
        <p:spPr>
          <a:xfrm>
            <a:off x="3978226" y="3281354"/>
            <a:ext cx="644728" cy="523220"/>
          </a:xfrm>
          <a:prstGeom prst="rect">
            <a:avLst/>
          </a:prstGeom>
          <a:noFill/>
        </p:spPr>
        <p:txBody>
          <a:bodyPr wrap="none" rtlCol="0">
            <a:spAutoFit/>
          </a:bodyPr>
          <a:lstStyle/>
          <a:p>
            <a:r>
              <a:rPr lang="en-US" sz="2800" dirty="0"/>
              <a:t>(C)</a:t>
            </a:r>
          </a:p>
        </p:txBody>
      </p:sp>
      <p:sp>
        <p:nvSpPr>
          <p:cNvPr id="60" name="Oval 59">
            <a:extLst>
              <a:ext uri="{FF2B5EF4-FFF2-40B4-BE49-F238E27FC236}">
                <a16:creationId xmlns:a16="http://schemas.microsoft.com/office/drawing/2014/main" id="{A53D0298-1E65-79A7-16F0-23917DF26256}"/>
              </a:ext>
            </a:extLst>
          </p:cNvPr>
          <p:cNvSpPr/>
          <p:nvPr/>
        </p:nvSpPr>
        <p:spPr>
          <a:xfrm>
            <a:off x="5311674" y="6261165"/>
            <a:ext cx="265374" cy="22156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1043C54-7E79-8E21-B45F-6E3CDAC6FD09}"/>
              </a:ext>
            </a:extLst>
          </p:cNvPr>
          <p:cNvSpPr/>
          <p:nvPr/>
        </p:nvSpPr>
        <p:spPr>
          <a:xfrm>
            <a:off x="6925862" y="6261165"/>
            <a:ext cx="265374" cy="221565"/>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CCDE41B-416C-41C5-30A2-EF003AE695D3}"/>
              </a:ext>
            </a:extLst>
          </p:cNvPr>
          <p:cNvSpPr/>
          <p:nvPr/>
        </p:nvSpPr>
        <p:spPr>
          <a:xfrm>
            <a:off x="6164657" y="6261165"/>
            <a:ext cx="265374" cy="221565"/>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614BB48A-4B03-9A5F-A4FF-AB2C5280C7CE}"/>
              </a:ext>
            </a:extLst>
          </p:cNvPr>
          <p:cNvSpPr txBox="1"/>
          <p:nvPr/>
        </p:nvSpPr>
        <p:spPr>
          <a:xfrm>
            <a:off x="5089308" y="6453142"/>
            <a:ext cx="726481" cy="369332"/>
          </a:xfrm>
          <a:prstGeom prst="rect">
            <a:avLst/>
          </a:prstGeom>
          <a:noFill/>
        </p:spPr>
        <p:txBody>
          <a:bodyPr wrap="none" rtlCol="0">
            <a:spAutoFit/>
          </a:bodyPr>
          <a:lstStyle/>
          <a:p>
            <a:r>
              <a:rPr lang="en-US" dirty="0" err="1"/>
              <a:t>spp</a:t>
            </a:r>
            <a:r>
              <a:rPr lang="en-US" dirty="0"/>
              <a:t> 1</a:t>
            </a:r>
          </a:p>
        </p:txBody>
      </p:sp>
      <p:sp>
        <p:nvSpPr>
          <p:cNvPr id="64" name="TextBox 63">
            <a:extLst>
              <a:ext uri="{FF2B5EF4-FFF2-40B4-BE49-F238E27FC236}">
                <a16:creationId xmlns:a16="http://schemas.microsoft.com/office/drawing/2014/main" id="{64733F5B-A2DD-1A4D-1E3A-EECAC5E10DE2}"/>
              </a:ext>
            </a:extLst>
          </p:cNvPr>
          <p:cNvSpPr txBox="1"/>
          <p:nvPr/>
        </p:nvSpPr>
        <p:spPr>
          <a:xfrm>
            <a:off x="5920852" y="6439939"/>
            <a:ext cx="726481" cy="369332"/>
          </a:xfrm>
          <a:prstGeom prst="rect">
            <a:avLst/>
          </a:prstGeom>
          <a:noFill/>
        </p:spPr>
        <p:txBody>
          <a:bodyPr wrap="none" rtlCol="0">
            <a:spAutoFit/>
          </a:bodyPr>
          <a:lstStyle/>
          <a:p>
            <a:r>
              <a:rPr lang="en-US" dirty="0" err="1"/>
              <a:t>spp</a:t>
            </a:r>
            <a:r>
              <a:rPr lang="en-US" dirty="0"/>
              <a:t> 2</a:t>
            </a:r>
          </a:p>
        </p:txBody>
      </p:sp>
      <p:sp>
        <p:nvSpPr>
          <p:cNvPr id="65" name="TextBox 64">
            <a:extLst>
              <a:ext uri="{FF2B5EF4-FFF2-40B4-BE49-F238E27FC236}">
                <a16:creationId xmlns:a16="http://schemas.microsoft.com/office/drawing/2014/main" id="{E669DC69-8082-DFD7-2E72-75EE1F841C3D}"/>
              </a:ext>
            </a:extLst>
          </p:cNvPr>
          <p:cNvSpPr txBox="1"/>
          <p:nvPr/>
        </p:nvSpPr>
        <p:spPr>
          <a:xfrm>
            <a:off x="6702068" y="6455434"/>
            <a:ext cx="726481" cy="369332"/>
          </a:xfrm>
          <a:prstGeom prst="rect">
            <a:avLst/>
          </a:prstGeom>
          <a:noFill/>
        </p:spPr>
        <p:txBody>
          <a:bodyPr wrap="none" rtlCol="0">
            <a:spAutoFit/>
          </a:bodyPr>
          <a:lstStyle/>
          <a:p>
            <a:r>
              <a:rPr lang="en-US" dirty="0" err="1"/>
              <a:t>spp</a:t>
            </a:r>
            <a:r>
              <a:rPr lang="en-US" dirty="0"/>
              <a:t> 3</a:t>
            </a:r>
          </a:p>
        </p:txBody>
      </p:sp>
      <p:sp>
        <p:nvSpPr>
          <p:cNvPr id="66" name="Oval 65">
            <a:extLst>
              <a:ext uri="{FF2B5EF4-FFF2-40B4-BE49-F238E27FC236}">
                <a16:creationId xmlns:a16="http://schemas.microsoft.com/office/drawing/2014/main" id="{A46B2291-FAF7-E390-2514-BB94E27F154F}"/>
              </a:ext>
            </a:extLst>
          </p:cNvPr>
          <p:cNvSpPr/>
          <p:nvPr/>
        </p:nvSpPr>
        <p:spPr>
          <a:xfrm>
            <a:off x="6852817" y="3473491"/>
            <a:ext cx="90000" cy="89319"/>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7" name="TextBox 66">
            <a:extLst>
              <a:ext uri="{FF2B5EF4-FFF2-40B4-BE49-F238E27FC236}">
                <a16:creationId xmlns:a16="http://schemas.microsoft.com/office/drawing/2014/main" id="{748CE6C6-70E1-0B36-AA1F-396556FD06BF}"/>
              </a:ext>
            </a:extLst>
          </p:cNvPr>
          <p:cNvSpPr txBox="1"/>
          <p:nvPr/>
        </p:nvSpPr>
        <p:spPr>
          <a:xfrm>
            <a:off x="6576724" y="3497725"/>
            <a:ext cx="599844" cy="338554"/>
          </a:xfrm>
          <a:prstGeom prst="rect">
            <a:avLst/>
          </a:prstGeom>
          <a:noFill/>
        </p:spPr>
        <p:txBody>
          <a:bodyPr wrap="none" rtlCol="0">
            <a:spAutoFit/>
          </a:bodyPr>
          <a:lstStyle/>
          <a:p>
            <a:r>
              <a:rPr lang="en-US" sz="1600" dirty="0"/>
              <a:t>n = 1</a:t>
            </a:r>
          </a:p>
        </p:txBody>
      </p:sp>
      <p:sp>
        <p:nvSpPr>
          <p:cNvPr id="68" name="Oval 67">
            <a:extLst>
              <a:ext uri="{FF2B5EF4-FFF2-40B4-BE49-F238E27FC236}">
                <a16:creationId xmlns:a16="http://schemas.microsoft.com/office/drawing/2014/main" id="{3E22E02E-C9E1-6248-1763-DAF39107D123}"/>
              </a:ext>
            </a:extLst>
          </p:cNvPr>
          <p:cNvSpPr/>
          <p:nvPr/>
        </p:nvSpPr>
        <p:spPr>
          <a:xfrm>
            <a:off x="6803697" y="3976274"/>
            <a:ext cx="180000" cy="18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9" name="TextBox 68">
            <a:extLst>
              <a:ext uri="{FF2B5EF4-FFF2-40B4-BE49-F238E27FC236}">
                <a16:creationId xmlns:a16="http://schemas.microsoft.com/office/drawing/2014/main" id="{ABFB2B3F-9E14-946E-B4DE-CFE3BB1CF4D9}"/>
              </a:ext>
            </a:extLst>
          </p:cNvPr>
          <p:cNvSpPr txBox="1"/>
          <p:nvPr/>
        </p:nvSpPr>
        <p:spPr>
          <a:xfrm>
            <a:off x="6572757" y="4128403"/>
            <a:ext cx="599844" cy="338554"/>
          </a:xfrm>
          <a:prstGeom prst="rect">
            <a:avLst/>
          </a:prstGeom>
          <a:noFill/>
        </p:spPr>
        <p:txBody>
          <a:bodyPr wrap="none" rtlCol="0">
            <a:spAutoFit/>
          </a:bodyPr>
          <a:lstStyle/>
          <a:p>
            <a:r>
              <a:rPr lang="en-US" sz="1600" dirty="0"/>
              <a:t>n = 5</a:t>
            </a:r>
          </a:p>
        </p:txBody>
      </p:sp>
      <p:sp>
        <p:nvSpPr>
          <p:cNvPr id="70" name="Oval 69">
            <a:extLst>
              <a:ext uri="{FF2B5EF4-FFF2-40B4-BE49-F238E27FC236}">
                <a16:creationId xmlns:a16="http://schemas.microsoft.com/office/drawing/2014/main" id="{7E652742-C994-3F59-AD6D-9F688471A59D}"/>
              </a:ext>
            </a:extLst>
          </p:cNvPr>
          <p:cNvSpPr/>
          <p:nvPr/>
        </p:nvSpPr>
        <p:spPr>
          <a:xfrm>
            <a:off x="6922791" y="5272802"/>
            <a:ext cx="125999" cy="12599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1" name="TextBox 70">
            <a:extLst>
              <a:ext uri="{FF2B5EF4-FFF2-40B4-BE49-F238E27FC236}">
                <a16:creationId xmlns:a16="http://schemas.microsoft.com/office/drawing/2014/main" id="{CA869AC9-E518-15DE-1389-8EF749E7355A}"/>
              </a:ext>
            </a:extLst>
          </p:cNvPr>
          <p:cNvSpPr txBox="1"/>
          <p:nvPr/>
        </p:nvSpPr>
        <p:spPr>
          <a:xfrm>
            <a:off x="6662679" y="5376390"/>
            <a:ext cx="599844" cy="338554"/>
          </a:xfrm>
          <a:prstGeom prst="rect">
            <a:avLst/>
          </a:prstGeom>
          <a:noFill/>
        </p:spPr>
        <p:txBody>
          <a:bodyPr wrap="none" rtlCol="0">
            <a:spAutoFit/>
          </a:bodyPr>
          <a:lstStyle/>
          <a:p>
            <a:r>
              <a:rPr lang="en-US" sz="1600" dirty="0"/>
              <a:t>n = 2</a:t>
            </a:r>
          </a:p>
        </p:txBody>
      </p:sp>
      <p:sp>
        <p:nvSpPr>
          <p:cNvPr id="72" name="Oval 71">
            <a:extLst>
              <a:ext uri="{FF2B5EF4-FFF2-40B4-BE49-F238E27FC236}">
                <a16:creationId xmlns:a16="http://schemas.microsoft.com/office/drawing/2014/main" id="{D62EA935-D277-9895-4586-03E005C291F4}"/>
              </a:ext>
            </a:extLst>
          </p:cNvPr>
          <p:cNvSpPr/>
          <p:nvPr/>
        </p:nvSpPr>
        <p:spPr>
          <a:xfrm>
            <a:off x="4982201" y="3402681"/>
            <a:ext cx="288000" cy="288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3" name="Oval 72">
            <a:extLst>
              <a:ext uri="{FF2B5EF4-FFF2-40B4-BE49-F238E27FC236}">
                <a16:creationId xmlns:a16="http://schemas.microsoft.com/office/drawing/2014/main" id="{08105C60-5808-91DC-662B-0EF905E3F7A1}"/>
              </a:ext>
            </a:extLst>
          </p:cNvPr>
          <p:cNvSpPr/>
          <p:nvPr/>
        </p:nvSpPr>
        <p:spPr>
          <a:xfrm>
            <a:off x="5100613" y="4041001"/>
            <a:ext cx="180000" cy="180000"/>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4" name="Oval 73">
            <a:extLst>
              <a:ext uri="{FF2B5EF4-FFF2-40B4-BE49-F238E27FC236}">
                <a16:creationId xmlns:a16="http://schemas.microsoft.com/office/drawing/2014/main" id="{DDF4C72D-CC29-CBB5-11B0-BD09D3817CC2}"/>
              </a:ext>
            </a:extLst>
          </p:cNvPr>
          <p:cNvSpPr/>
          <p:nvPr/>
        </p:nvSpPr>
        <p:spPr>
          <a:xfrm>
            <a:off x="5162201" y="5385791"/>
            <a:ext cx="216000" cy="216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5" name="TextBox 74">
            <a:extLst>
              <a:ext uri="{FF2B5EF4-FFF2-40B4-BE49-F238E27FC236}">
                <a16:creationId xmlns:a16="http://schemas.microsoft.com/office/drawing/2014/main" id="{A1223FCD-2ECF-354F-BC2D-392174FF92FD}"/>
              </a:ext>
            </a:extLst>
          </p:cNvPr>
          <p:cNvSpPr txBox="1"/>
          <p:nvPr/>
        </p:nvSpPr>
        <p:spPr>
          <a:xfrm>
            <a:off x="4953539" y="5559769"/>
            <a:ext cx="599844" cy="338554"/>
          </a:xfrm>
          <a:prstGeom prst="rect">
            <a:avLst/>
          </a:prstGeom>
          <a:noFill/>
        </p:spPr>
        <p:txBody>
          <a:bodyPr wrap="none" rtlCol="0">
            <a:spAutoFit/>
          </a:bodyPr>
          <a:lstStyle/>
          <a:p>
            <a:r>
              <a:rPr lang="en-US" sz="1600" dirty="0"/>
              <a:t>n = 6</a:t>
            </a:r>
          </a:p>
        </p:txBody>
      </p:sp>
      <p:sp>
        <p:nvSpPr>
          <p:cNvPr id="76" name="TextBox 75">
            <a:extLst>
              <a:ext uri="{FF2B5EF4-FFF2-40B4-BE49-F238E27FC236}">
                <a16:creationId xmlns:a16="http://schemas.microsoft.com/office/drawing/2014/main" id="{2C959C77-05B9-9DD0-E5AC-D46DB69E51CC}"/>
              </a:ext>
            </a:extLst>
          </p:cNvPr>
          <p:cNvSpPr txBox="1"/>
          <p:nvPr/>
        </p:nvSpPr>
        <p:spPr>
          <a:xfrm>
            <a:off x="4849168" y="3618215"/>
            <a:ext cx="599844" cy="338554"/>
          </a:xfrm>
          <a:prstGeom prst="rect">
            <a:avLst/>
          </a:prstGeom>
          <a:noFill/>
        </p:spPr>
        <p:txBody>
          <a:bodyPr wrap="none" rtlCol="0">
            <a:spAutoFit/>
          </a:bodyPr>
          <a:lstStyle/>
          <a:p>
            <a:r>
              <a:rPr lang="en-US" sz="1600" dirty="0"/>
              <a:t>n = 8</a:t>
            </a:r>
          </a:p>
        </p:txBody>
      </p:sp>
      <p:sp>
        <p:nvSpPr>
          <p:cNvPr id="77" name="TextBox 76">
            <a:extLst>
              <a:ext uri="{FF2B5EF4-FFF2-40B4-BE49-F238E27FC236}">
                <a16:creationId xmlns:a16="http://schemas.microsoft.com/office/drawing/2014/main" id="{77831D3B-4962-16A5-CBC7-EB735E35ECC2}"/>
              </a:ext>
            </a:extLst>
          </p:cNvPr>
          <p:cNvSpPr txBox="1"/>
          <p:nvPr/>
        </p:nvSpPr>
        <p:spPr>
          <a:xfrm>
            <a:off x="4901262" y="4138855"/>
            <a:ext cx="599844" cy="338554"/>
          </a:xfrm>
          <a:prstGeom prst="rect">
            <a:avLst/>
          </a:prstGeom>
          <a:noFill/>
        </p:spPr>
        <p:txBody>
          <a:bodyPr wrap="none" rtlCol="0">
            <a:spAutoFit/>
          </a:bodyPr>
          <a:lstStyle/>
          <a:p>
            <a:r>
              <a:rPr lang="en-US" sz="1600" dirty="0"/>
              <a:t>n = 5</a:t>
            </a:r>
          </a:p>
        </p:txBody>
      </p:sp>
      <p:cxnSp>
        <p:nvCxnSpPr>
          <p:cNvPr id="78" name="Straight Arrow Connector 77">
            <a:extLst>
              <a:ext uri="{FF2B5EF4-FFF2-40B4-BE49-F238E27FC236}">
                <a16:creationId xmlns:a16="http://schemas.microsoft.com/office/drawing/2014/main" id="{7071646C-1592-83CD-949A-824940FA4F4A}"/>
              </a:ext>
            </a:extLst>
          </p:cNvPr>
          <p:cNvCxnSpPr>
            <a:cxnSpLocks/>
          </p:cNvCxnSpPr>
          <p:nvPr/>
        </p:nvCxnSpPr>
        <p:spPr>
          <a:xfrm>
            <a:off x="7740082" y="4544265"/>
            <a:ext cx="63147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100" name="Group 99">
            <a:extLst>
              <a:ext uri="{FF2B5EF4-FFF2-40B4-BE49-F238E27FC236}">
                <a16:creationId xmlns:a16="http://schemas.microsoft.com/office/drawing/2014/main" id="{4FA7A2A6-D0BA-C853-B8A5-8C8A0DB32840}"/>
              </a:ext>
            </a:extLst>
          </p:cNvPr>
          <p:cNvGrpSpPr/>
          <p:nvPr/>
        </p:nvGrpSpPr>
        <p:grpSpPr>
          <a:xfrm>
            <a:off x="9032272" y="3290669"/>
            <a:ext cx="2880422" cy="2843865"/>
            <a:chOff x="4688496" y="3882189"/>
            <a:chExt cx="1679974" cy="1698554"/>
          </a:xfrm>
        </p:grpSpPr>
        <p:sp>
          <p:nvSpPr>
            <p:cNvPr id="101" name="Freeform 100">
              <a:extLst>
                <a:ext uri="{FF2B5EF4-FFF2-40B4-BE49-F238E27FC236}">
                  <a16:creationId xmlns:a16="http://schemas.microsoft.com/office/drawing/2014/main" id="{C3C08C58-E9F1-A893-ABF2-1A1B3E2D23F9}"/>
                </a:ext>
              </a:extLst>
            </p:cNvPr>
            <p:cNvSpPr/>
            <p:nvPr/>
          </p:nvSpPr>
          <p:spPr>
            <a:xfrm>
              <a:off x="4688496" y="3882189"/>
              <a:ext cx="589547" cy="926432"/>
            </a:xfrm>
            <a:custGeom>
              <a:avLst/>
              <a:gdLst>
                <a:gd name="connsiteX0" fmla="*/ 0 w 589547"/>
                <a:gd name="connsiteY0" fmla="*/ 12032 h 926432"/>
                <a:gd name="connsiteX1" fmla="*/ 144378 w 589547"/>
                <a:gd name="connsiteY1" fmla="*/ 926432 h 926432"/>
                <a:gd name="connsiteX2" fmla="*/ 288757 w 589547"/>
                <a:gd name="connsiteY2" fmla="*/ 902369 h 926432"/>
                <a:gd name="connsiteX3" fmla="*/ 445168 w 589547"/>
                <a:gd name="connsiteY3" fmla="*/ 553453 h 926432"/>
                <a:gd name="connsiteX4" fmla="*/ 589547 w 589547"/>
                <a:gd name="connsiteY4" fmla="*/ 385011 h 926432"/>
                <a:gd name="connsiteX5" fmla="*/ 312821 w 589547"/>
                <a:gd name="connsiteY5" fmla="*/ 0 h 926432"/>
                <a:gd name="connsiteX6" fmla="*/ 0 w 589547"/>
                <a:gd name="connsiteY6" fmla="*/ 12032 h 92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547" h="926432">
                  <a:moveTo>
                    <a:pt x="0" y="12032"/>
                  </a:moveTo>
                  <a:lnTo>
                    <a:pt x="144378" y="926432"/>
                  </a:lnTo>
                  <a:lnTo>
                    <a:pt x="288757" y="902369"/>
                  </a:lnTo>
                  <a:lnTo>
                    <a:pt x="445168" y="553453"/>
                  </a:lnTo>
                  <a:lnTo>
                    <a:pt x="589547" y="385011"/>
                  </a:lnTo>
                  <a:lnTo>
                    <a:pt x="312821" y="0"/>
                  </a:lnTo>
                  <a:lnTo>
                    <a:pt x="0" y="12032"/>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2" name="Rectangle 101">
              <a:extLst>
                <a:ext uri="{FF2B5EF4-FFF2-40B4-BE49-F238E27FC236}">
                  <a16:creationId xmlns:a16="http://schemas.microsoft.com/office/drawing/2014/main" id="{46E2BA8E-D875-4311-E24F-3CC83AA915CC}"/>
                </a:ext>
              </a:extLst>
            </p:cNvPr>
            <p:cNvSpPr/>
            <p:nvPr/>
          </p:nvSpPr>
          <p:spPr>
            <a:xfrm>
              <a:off x="5598449" y="3882189"/>
              <a:ext cx="649950" cy="7626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3" name="Rectangle 102">
              <a:extLst>
                <a:ext uri="{FF2B5EF4-FFF2-40B4-BE49-F238E27FC236}">
                  <a16:creationId xmlns:a16="http://schemas.microsoft.com/office/drawing/2014/main" id="{F1079D4F-1457-2A32-3DB6-1862E48D123F}"/>
                </a:ext>
              </a:extLst>
            </p:cNvPr>
            <p:cNvSpPr/>
            <p:nvPr/>
          </p:nvSpPr>
          <p:spPr>
            <a:xfrm>
              <a:off x="4688496" y="5007506"/>
              <a:ext cx="589547" cy="5732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4" name="Rectangle 103">
              <a:extLst>
                <a:ext uri="{FF2B5EF4-FFF2-40B4-BE49-F238E27FC236}">
                  <a16:creationId xmlns:a16="http://schemas.microsoft.com/office/drawing/2014/main" id="{294D72BD-A54F-7FAE-6B7C-E7CEE8BAE391}"/>
                </a:ext>
              </a:extLst>
            </p:cNvPr>
            <p:cNvSpPr/>
            <p:nvPr/>
          </p:nvSpPr>
          <p:spPr>
            <a:xfrm>
              <a:off x="5598449" y="4808621"/>
              <a:ext cx="770021" cy="7721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5" name="TextBox 104">
            <a:extLst>
              <a:ext uri="{FF2B5EF4-FFF2-40B4-BE49-F238E27FC236}">
                <a16:creationId xmlns:a16="http://schemas.microsoft.com/office/drawing/2014/main" id="{911DFFA0-846D-CC0B-23DB-2419AD586ADD}"/>
              </a:ext>
            </a:extLst>
          </p:cNvPr>
          <p:cNvSpPr txBox="1"/>
          <p:nvPr/>
        </p:nvSpPr>
        <p:spPr>
          <a:xfrm>
            <a:off x="8276965" y="3291860"/>
            <a:ext cx="643125" cy="523220"/>
          </a:xfrm>
          <a:prstGeom prst="rect">
            <a:avLst/>
          </a:prstGeom>
          <a:noFill/>
        </p:spPr>
        <p:txBody>
          <a:bodyPr wrap="none" rtlCol="0">
            <a:spAutoFit/>
          </a:bodyPr>
          <a:lstStyle/>
          <a:p>
            <a:r>
              <a:rPr lang="en-US" sz="2800" dirty="0"/>
              <a:t>(D)</a:t>
            </a:r>
          </a:p>
        </p:txBody>
      </p:sp>
      <p:sp>
        <p:nvSpPr>
          <p:cNvPr id="106" name="Oval 105">
            <a:extLst>
              <a:ext uri="{FF2B5EF4-FFF2-40B4-BE49-F238E27FC236}">
                <a16:creationId xmlns:a16="http://schemas.microsoft.com/office/drawing/2014/main" id="{3A1C9BBD-4F34-F941-C0FA-48F16955A817}"/>
              </a:ext>
            </a:extLst>
          </p:cNvPr>
          <p:cNvSpPr/>
          <p:nvPr/>
        </p:nvSpPr>
        <p:spPr>
          <a:xfrm>
            <a:off x="9578882" y="6271671"/>
            <a:ext cx="265374" cy="22156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B3CBB5F-2F46-EC95-33BC-F0B10DC2BE59}"/>
              </a:ext>
            </a:extLst>
          </p:cNvPr>
          <p:cNvSpPr/>
          <p:nvPr/>
        </p:nvSpPr>
        <p:spPr>
          <a:xfrm>
            <a:off x="11193070" y="6271671"/>
            <a:ext cx="265374" cy="221565"/>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7C5CDF77-77FC-B117-84B2-D9E7184A0771}"/>
              </a:ext>
            </a:extLst>
          </p:cNvPr>
          <p:cNvSpPr/>
          <p:nvPr/>
        </p:nvSpPr>
        <p:spPr>
          <a:xfrm>
            <a:off x="10431865" y="6271671"/>
            <a:ext cx="265374" cy="221565"/>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FA3677C2-8A92-F55C-EB69-B88011F3C214}"/>
              </a:ext>
            </a:extLst>
          </p:cNvPr>
          <p:cNvSpPr txBox="1"/>
          <p:nvPr/>
        </p:nvSpPr>
        <p:spPr>
          <a:xfrm>
            <a:off x="9356516" y="6463648"/>
            <a:ext cx="726481" cy="369332"/>
          </a:xfrm>
          <a:prstGeom prst="rect">
            <a:avLst/>
          </a:prstGeom>
          <a:noFill/>
        </p:spPr>
        <p:txBody>
          <a:bodyPr wrap="none" rtlCol="0">
            <a:spAutoFit/>
          </a:bodyPr>
          <a:lstStyle/>
          <a:p>
            <a:r>
              <a:rPr lang="en-US" dirty="0" err="1"/>
              <a:t>spp</a:t>
            </a:r>
            <a:r>
              <a:rPr lang="en-US" dirty="0"/>
              <a:t> 1</a:t>
            </a:r>
          </a:p>
        </p:txBody>
      </p:sp>
      <p:sp>
        <p:nvSpPr>
          <p:cNvPr id="110" name="TextBox 109">
            <a:extLst>
              <a:ext uri="{FF2B5EF4-FFF2-40B4-BE49-F238E27FC236}">
                <a16:creationId xmlns:a16="http://schemas.microsoft.com/office/drawing/2014/main" id="{26373C65-2A2E-FF97-5BC0-7A4A68708CDA}"/>
              </a:ext>
            </a:extLst>
          </p:cNvPr>
          <p:cNvSpPr txBox="1"/>
          <p:nvPr/>
        </p:nvSpPr>
        <p:spPr>
          <a:xfrm>
            <a:off x="10188060" y="6450445"/>
            <a:ext cx="726481" cy="369332"/>
          </a:xfrm>
          <a:prstGeom prst="rect">
            <a:avLst/>
          </a:prstGeom>
          <a:noFill/>
        </p:spPr>
        <p:txBody>
          <a:bodyPr wrap="none" rtlCol="0">
            <a:spAutoFit/>
          </a:bodyPr>
          <a:lstStyle/>
          <a:p>
            <a:r>
              <a:rPr lang="en-US" dirty="0" err="1"/>
              <a:t>spp</a:t>
            </a:r>
            <a:r>
              <a:rPr lang="en-US" dirty="0"/>
              <a:t> 2</a:t>
            </a:r>
          </a:p>
        </p:txBody>
      </p:sp>
      <p:sp>
        <p:nvSpPr>
          <p:cNvPr id="111" name="TextBox 110">
            <a:extLst>
              <a:ext uri="{FF2B5EF4-FFF2-40B4-BE49-F238E27FC236}">
                <a16:creationId xmlns:a16="http://schemas.microsoft.com/office/drawing/2014/main" id="{7AE30429-CA35-812E-EC28-BAB809F76B57}"/>
              </a:ext>
            </a:extLst>
          </p:cNvPr>
          <p:cNvSpPr txBox="1"/>
          <p:nvPr/>
        </p:nvSpPr>
        <p:spPr>
          <a:xfrm>
            <a:off x="10969276" y="6465940"/>
            <a:ext cx="726481" cy="369332"/>
          </a:xfrm>
          <a:prstGeom prst="rect">
            <a:avLst/>
          </a:prstGeom>
          <a:noFill/>
        </p:spPr>
        <p:txBody>
          <a:bodyPr wrap="none" rtlCol="0">
            <a:spAutoFit/>
          </a:bodyPr>
          <a:lstStyle/>
          <a:p>
            <a:r>
              <a:rPr lang="en-US" dirty="0" err="1"/>
              <a:t>spp</a:t>
            </a:r>
            <a:r>
              <a:rPr lang="en-US" dirty="0"/>
              <a:t> 3</a:t>
            </a:r>
          </a:p>
        </p:txBody>
      </p:sp>
      <p:sp>
        <p:nvSpPr>
          <p:cNvPr id="114" name="Oval 113">
            <a:extLst>
              <a:ext uri="{FF2B5EF4-FFF2-40B4-BE49-F238E27FC236}">
                <a16:creationId xmlns:a16="http://schemas.microsoft.com/office/drawing/2014/main" id="{2BC3629D-D319-92F7-DA60-EC958ADE12B6}"/>
              </a:ext>
            </a:extLst>
          </p:cNvPr>
          <p:cNvSpPr/>
          <p:nvPr/>
        </p:nvSpPr>
        <p:spPr>
          <a:xfrm>
            <a:off x="11059634" y="3638691"/>
            <a:ext cx="180000" cy="18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5" name="TextBox 114">
            <a:extLst>
              <a:ext uri="{FF2B5EF4-FFF2-40B4-BE49-F238E27FC236}">
                <a16:creationId xmlns:a16="http://schemas.microsoft.com/office/drawing/2014/main" id="{1CCC4A73-B64D-469A-0EAB-90891480CE4E}"/>
              </a:ext>
            </a:extLst>
          </p:cNvPr>
          <p:cNvSpPr txBox="1"/>
          <p:nvPr/>
        </p:nvSpPr>
        <p:spPr>
          <a:xfrm>
            <a:off x="10824064" y="3819717"/>
            <a:ext cx="599844" cy="338554"/>
          </a:xfrm>
          <a:prstGeom prst="rect">
            <a:avLst/>
          </a:prstGeom>
          <a:noFill/>
        </p:spPr>
        <p:txBody>
          <a:bodyPr wrap="none" rtlCol="0">
            <a:spAutoFit/>
          </a:bodyPr>
          <a:lstStyle/>
          <a:p>
            <a:r>
              <a:rPr lang="en-US" sz="1600" dirty="0"/>
              <a:t>n = 5</a:t>
            </a:r>
          </a:p>
        </p:txBody>
      </p:sp>
      <p:sp>
        <p:nvSpPr>
          <p:cNvPr id="118" name="Oval 117">
            <a:extLst>
              <a:ext uri="{FF2B5EF4-FFF2-40B4-BE49-F238E27FC236}">
                <a16:creationId xmlns:a16="http://schemas.microsoft.com/office/drawing/2014/main" id="{D695955B-E65B-5E5A-BCD4-50F7612518F5}"/>
              </a:ext>
            </a:extLst>
          </p:cNvPr>
          <p:cNvSpPr/>
          <p:nvPr/>
        </p:nvSpPr>
        <p:spPr>
          <a:xfrm>
            <a:off x="9359769" y="3539315"/>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9" name="Oval 118">
            <a:extLst>
              <a:ext uri="{FF2B5EF4-FFF2-40B4-BE49-F238E27FC236}">
                <a16:creationId xmlns:a16="http://schemas.microsoft.com/office/drawing/2014/main" id="{3665862C-8163-B11A-AEBB-19B5F004D276}"/>
              </a:ext>
            </a:extLst>
          </p:cNvPr>
          <p:cNvSpPr/>
          <p:nvPr/>
        </p:nvSpPr>
        <p:spPr>
          <a:xfrm>
            <a:off x="9367821" y="4051507"/>
            <a:ext cx="180000" cy="180000"/>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0" name="Oval 119">
            <a:extLst>
              <a:ext uri="{FF2B5EF4-FFF2-40B4-BE49-F238E27FC236}">
                <a16:creationId xmlns:a16="http://schemas.microsoft.com/office/drawing/2014/main" id="{CC3DF7C1-2A8F-467D-9C26-2B6F4DBC38B8}"/>
              </a:ext>
            </a:extLst>
          </p:cNvPr>
          <p:cNvSpPr/>
          <p:nvPr/>
        </p:nvSpPr>
        <p:spPr>
          <a:xfrm>
            <a:off x="9445175" y="5444592"/>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1" name="TextBox 120">
            <a:extLst>
              <a:ext uri="{FF2B5EF4-FFF2-40B4-BE49-F238E27FC236}">
                <a16:creationId xmlns:a16="http://schemas.microsoft.com/office/drawing/2014/main" id="{29A0E5AD-6C87-3F8A-54AD-9199856233FB}"/>
              </a:ext>
            </a:extLst>
          </p:cNvPr>
          <p:cNvSpPr txBox="1"/>
          <p:nvPr/>
        </p:nvSpPr>
        <p:spPr>
          <a:xfrm>
            <a:off x="9220747" y="5570275"/>
            <a:ext cx="599844" cy="338554"/>
          </a:xfrm>
          <a:prstGeom prst="rect">
            <a:avLst/>
          </a:prstGeom>
          <a:noFill/>
        </p:spPr>
        <p:txBody>
          <a:bodyPr wrap="none" rtlCol="0">
            <a:spAutoFit/>
          </a:bodyPr>
          <a:lstStyle/>
          <a:p>
            <a:r>
              <a:rPr lang="en-US" sz="1600" dirty="0"/>
              <a:t>n = 5</a:t>
            </a:r>
          </a:p>
        </p:txBody>
      </p:sp>
      <p:sp>
        <p:nvSpPr>
          <p:cNvPr id="122" name="TextBox 121">
            <a:extLst>
              <a:ext uri="{FF2B5EF4-FFF2-40B4-BE49-F238E27FC236}">
                <a16:creationId xmlns:a16="http://schemas.microsoft.com/office/drawing/2014/main" id="{368E1090-28BE-8EC3-BDBB-6D73A5EF6654}"/>
              </a:ext>
            </a:extLst>
          </p:cNvPr>
          <p:cNvSpPr txBox="1"/>
          <p:nvPr/>
        </p:nvSpPr>
        <p:spPr>
          <a:xfrm>
            <a:off x="9127951" y="3663446"/>
            <a:ext cx="599844" cy="338554"/>
          </a:xfrm>
          <a:prstGeom prst="rect">
            <a:avLst/>
          </a:prstGeom>
          <a:noFill/>
        </p:spPr>
        <p:txBody>
          <a:bodyPr wrap="none" rtlCol="0">
            <a:spAutoFit/>
          </a:bodyPr>
          <a:lstStyle/>
          <a:p>
            <a:r>
              <a:rPr lang="en-US" sz="1600" dirty="0"/>
              <a:t>n = 5</a:t>
            </a:r>
          </a:p>
        </p:txBody>
      </p:sp>
      <p:sp>
        <p:nvSpPr>
          <p:cNvPr id="123" name="TextBox 122">
            <a:extLst>
              <a:ext uri="{FF2B5EF4-FFF2-40B4-BE49-F238E27FC236}">
                <a16:creationId xmlns:a16="http://schemas.microsoft.com/office/drawing/2014/main" id="{8E65C460-E25A-C982-142D-AF41DD53DBED}"/>
              </a:ext>
            </a:extLst>
          </p:cNvPr>
          <p:cNvSpPr txBox="1"/>
          <p:nvPr/>
        </p:nvSpPr>
        <p:spPr>
          <a:xfrm>
            <a:off x="9133745" y="4149361"/>
            <a:ext cx="599844" cy="338554"/>
          </a:xfrm>
          <a:prstGeom prst="rect">
            <a:avLst/>
          </a:prstGeom>
          <a:noFill/>
        </p:spPr>
        <p:txBody>
          <a:bodyPr wrap="none" rtlCol="0">
            <a:spAutoFit/>
          </a:bodyPr>
          <a:lstStyle/>
          <a:p>
            <a:r>
              <a:rPr lang="en-US" sz="1600" dirty="0"/>
              <a:t>n = 5</a:t>
            </a:r>
          </a:p>
        </p:txBody>
      </p:sp>
    </p:spTree>
    <p:extLst>
      <p:ext uri="{BB962C8B-B14F-4D97-AF65-F5344CB8AC3E}">
        <p14:creationId xmlns:p14="http://schemas.microsoft.com/office/powerpoint/2010/main" val="3043079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11591</TotalTime>
  <Words>273</Words>
  <Application>Microsoft Macintosh PowerPoint</Application>
  <PresentationFormat>Widescreen</PresentationFormat>
  <Paragraphs>33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jennamel@student.ubc.ca</dc:creator>
  <cp:lastModifiedBy>jennamel@student.ubc.ca</cp:lastModifiedBy>
  <cp:revision>2</cp:revision>
  <dcterms:created xsi:type="dcterms:W3CDTF">2025-06-06T22:07:39Z</dcterms:created>
  <dcterms:modified xsi:type="dcterms:W3CDTF">2025-06-14T23:18:40Z</dcterms:modified>
</cp:coreProperties>
</file>